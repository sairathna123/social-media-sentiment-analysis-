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92">
          <p15:clr>
            <a:srgbClr val="A4A3A4"/>
          </p15:clr>
        </p15:guide>
        <p15:guide id="2" pos="192">
          <p15:clr>
            <a:srgbClr val="A4A3A4"/>
          </p15:clr>
        </p15:guide>
        <p15:guide id="3" orient="horz" pos="1080">
          <p15:clr>
            <a:srgbClr val="A4A3A4"/>
          </p15:clr>
        </p15:guide>
      </p15:sldGuideLst>
    </p:ext>
    <p:ext uri="GoogleSlidesCustomDataVersion2">
      <go:slidesCustomData xmlns:go="http://customooxmlschemas.google.com/" r:id="rId15" roundtripDataSignature="AMtx7mgwqRv0M0o1xkfPAxgYhQwYCx2R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650E04-EA5A-49DF-9232-FF3F831E30ED}">
  <a:tblStyle styleId="{F1650E04-EA5A-49DF-9232-FF3F831E30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92" orient="horz"/>
        <p:guide pos="192"/>
        <p:guide pos="108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customschemas.google.com/relationships/presentationmetadata" Target="metadata"/><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g5fab98468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5fab984687_2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65409ad47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g65409ad471_0_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2ffd54f8e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g32ffd54f8e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descr="A close up of a sign&#10;&#10;Description automatically generated" id="6" name="Google Shape;6;p5"/>
          <p:cNvPicPr preferRelativeResize="0"/>
          <p:nvPr/>
        </p:nvPicPr>
        <p:blipFill rotWithShape="1">
          <a:blip r:embed="rId1">
            <a:alphaModFix/>
          </a:blip>
          <a:srcRect b="0" l="0" r="0" t="0"/>
          <a:stretch/>
        </p:blipFill>
        <p:spPr>
          <a:xfrm>
            <a:off x="10072688" y="78002"/>
            <a:ext cx="1800225" cy="575514"/>
          </a:xfrm>
          <a:prstGeom prst="rect">
            <a:avLst/>
          </a:prstGeom>
          <a:noFill/>
          <a:ln>
            <a:noFill/>
          </a:ln>
        </p:spPr>
      </p:pic>
      <p:sp>
        <p:nvSpPr>
          <p:cNvPr id="7" name="Google Shape;7;p5"/>
          <p:cNvSpPr/>
          <p:nvPr/>
        </p:nvSpPr>
        <p:spPr>
          <a:xfrm>
            <a:off x="1" y="0"/>
            <a:ext cx="9829800" cy="717630"/>
          </a:xfrm>
          <a:prstGeom prst="rect">
            <a:avLst/>
          </a:prstGeom>
          <a:solidFill>
            <a:srgbClr val="213264"/>
          </a:solidFill>
          <a:ln cap="flat" cmpd="sng" w="25400">
            <a:solidFill>
              <a:srgbClr val="21326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
        <p:nvSpPr>
          <p:cNvPr id="8" name="Google Shape;8;p5"/>
          <p:cNvSpPr/>
          <p:nvPr/>
        </p:nvSpPr>
        <p:spPr>
          <a:xfrm>
            <a:off x="9888967" y="-419"/>
            <a:ext cx="112283" cy="732357"/>
          </a:xfrm>
          <a:prstGeom prst="rect">
            <a:avLst/>
          </a:prstGeom>
          <a:solidFill>
            <a:srgbClr val="7FBA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pic>
        <p:nvPicPr>
          <p:cNvPr descr="A blue and white background&#10;&#10;Description automatically generated with medium confidence" id="9" name="Google Shape;9;p5"/>
          <p:cNvPicPr preferRelativeResize="0"/>
          <p:nvPr/>
        </p:nvPicPr>
        <p:blipFill rotWithShape="1">
          <a:blip r:embed="rId2">
            <a:alphaModFix amt="16000"/>
          </a:blip>
          <a:srcRect b="63695" l="0" r="1618" t="24724"/>
          <a:stretch/>
        </p:blipFill>
        <p:spPr>
          <a:xfrm>
            <a:off x="0" y="-1"/>
            <a:ext cx="9839325" cy="723901"/>
          </a:xfrm>
          <a:prstGeom prst="rect">
            <a:avLst/>
          </a:prstGeom>
          <a:noFill/>
          <a:ln>
            <a:noFill/>
          </a:ln>
        </p:spPr>
      </p:pic>
      <p:sp>
        <p:nvSpPr>
          <p:cNvPr id="10" name="Google Shape;10;p5"/>
          <p:cNvSpPr/>
          <p:nvPr/>
        </p:nvSpPr>
        <p:spPr>
          <a:xfrm>
            <a:off x="11925300" y="-419"/>
            <a:ext cx="266700" cy="732357"/>
          </a:xfrm>
          <a:prstGeom prst="rect">
            <a:avLst/>
          </a:prstGeom>
          <a:solidFill>
            <a:srgbClr val="FED5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6.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freepik.com/"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pic>
        <p:nvPicPr>
          <p:cNvPr descr="A person sitting at a desk with a computer&#10;&#10;Description automatically generated" id="19" name="Google Shape;19;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 name="Google Shape;20;p1"/>
          <p:cNvSpPr/>
          <p:nvPr/>
        </p:nvSpPr>
        <p:spPr>
          <a:xfrm>
            <a:off x="5873750" y="584200"/>
            <a:ext cx="4673600" cy="977900"/>
          </a:xfrm>
          <a:prstGeom prst="roundRect">
            <a:avLst>
              <a:gd fmla="val 16667" name="adj"/>
            </a:avLst>
          </a:prstGeom>
          <a:solidFill>
            <a:srgbClr val="EBEEF9"/>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
        <p:nvSpPr>
          <p:cNvPr id="21" name="Google Shape;21;p1"/>
          <p:cNvSpPr txBox="1"/>
          <p:nvPr/>
        </p:nvSpPr>
        <p:spPr>
          <a:xfrm>
            <a:off x="4822025" y="2536025"/>
            <a:ext cx="6607800" cy="34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 sz="3600">
                <a:solidFill>
                  <a:schemeClr val="lt1"/>
                </a:solidFill>
              </a:rPr>
              <a:t>Social Media Sentiment Analysis Dashboard using Power BI</a:t>
            </a:r>
            <a:endParaRPr b="1" sz="3600">
              <a:solidFill>
                <a:schemeClr val="lt1"/>
              </a:solidFill>
            </a:endParaRPr>
          </a:p>
          <a:p>
            <a:pPr indent="0" lvl="0" marL="0" marR="0" rtl="0" algn="ctr">
              <a:lnSpc>
                <a:spcPct val="100000"/>
              </a:lnSpc>
              <a:spcBef>
                <a:spcPts val="0"/>
              </a:spcBef>
              <a:spcAft>
                <a:spcPts val="0"/>
              </a:spcAft>
              <a:buNone/>
            </a:pPr>
            <a:r>
              <a:t/>
            </a:r>
            <a:endParaRPr b="1" sz="3600">
              <a:solidFill>
                <a:schemeClr val="lt1"/>
              </a:solidFill>
            </a:endParaRPr>
          </a:p>
          <a:p>
            <a:pPr indent="0" lvl="0" marL="0" marR="0" rtl="0" algn="ctr">
              <a:lnSpc>
                <a:spcPct val="100000"/>
              </a:lnSpc>
              <a:spcBef>
                <a:spcPts val="0"/>
              </a:spcBef>
              <a:spcAft>
                <a:spcPts val="0"/>
              </a:spcAft>
              <a:buNone/>
            </a:pPr>
            <a:r>
              <a:rPr b="1" lang="en" sz="3600">
                <a:solidFill>
                  <a:schemeClr val="lt1"/>
                </a:solidFill>
              </a:rPr>
              <a:t>Name : Sairathna M</a:t>
            </a:r>
            <a:endParaRPr b="1" sz="3600">
              <a:solidFill>
                <a:schemeClr val="lt1"/>
              </a:solidFill>
            </a:endParaRPr>
          </a:p>
          <a:p>
            <a:pPr indent="0" lvl="0" marL="0" marR="0" rtl="0" algn="ctr">
              <a:lnSpc>
                <a:spcPct val="100000"/>
              </a:lnSpc>
              <a:spcBef>
                <a:spcPts val="0"/>
              </a:spcBef>
              <a:spcAft>
                <a:spcPts val="0"/>
              </a:spcAft>
              <a:buNone/>
            </a:pPr>
            <a:r>
              <a:t/>
            </a:r>
            <a:endParaRPr b="1" sz="3600">
              <a:solidFill>
                <a:schemeClr val="lt1"/>
              </a:solidFill>
            </a:endParaRPr>
          </a:p>
        </p:txBody>
      </p:sp>
      <p:grpSp>
        <p:nvGrpSpPr>
          <p:cNvPr id="22" name="Google Shape;22;p1"/>
          <p:cNvGrpSpPr/>
          <p:nvPr/>
        </p:nvGrpSpPr>
        <p:grpSpPr>
          <a:xfrm>
            <a:off x="6890523" y="742091"/>
            <a:ext cx="2640053" cy="664378"/>
            <a:chOff x="2375536" y="1112060"/>
            <a:chExt cx="3292636" cy="828603"/>
          </a:xfrm>
        </p:grpSpPr>
        <p:pic>
          <p:nvPicPr>
            <p:cNvPr descr="A close up of a logo&#10;&#10;Description automatically generated" id="23" name="Google Shape;23;p1"/>
            <p:cNvPicPr preferRelativeResize="0"/>
            <p:nvPr/>
          </p:nvPicPr>
          <p:blipFill rotWithShape="1">
            <a:blip r:embed="rId4">
              <a:alphaModFix/>
            </a:blip>
            <a:srcRect b="0" l="0" r="0" t="0"/>
            <a:stretch/>
          </p:blipFill>
          <p:spPr>
            <a:xfrm>
              <a:off x="4092781" y="1270168"/>
              <a:ext cx="1575391" cy="512386"/>
            </a:xfrm>
            <a:prstGeom prst="rect">
              <a:avLst/>
            </a:prstGeom>
            <a:noFill/>
            <a:ln>
              <a:noFill/>
            </a:ln>
          </p:spPr>
        </p:pic>
        <p:pic>
          <p:nvPicPr>
            <p:cNvPr descr="A yellow and red shell logo&#10;&#10;Description automatically generated" id="24" name="Google Shape;24;p1"/>
            <p:cNvPicPr preferRelativeResize="0"/>
            <p:nvPr/>
          </p:nvPicPr>
          <p:blipFill rotWithShape="1">
            <a:blip r:embed="rId5">
              <a:alphaModFix/>
            </a:blip>
            <a:srcRect b="0" l="0" r="0" t="0"/>
            <a:stretch/>
          </p:blipFill>
          <p:spPr>
            <a:xfrm>
              <a:off x="2375536" y="1112060"/>
              <a:ext cx="985475" cy="828603"/>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g5fab984687_2_0"/>
          <p:cNvSpPr txBox="1"/>
          <p:nvPr/>
        </p:nvSpPr>
        <p:spPr>
          <a:xfrm>
            <a:off x="191911" y="972537"/>
            <a:ext cx="265288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213163"/>
                </a:solidFill>
                <a:latin typeface="Arial"/>
                <a:ea typeface="Arial"/>
                <a:cs typeface="Arial"/>
                <a:sym typeface="Arial"/>
              </a:rPr>
              <a:t>Learning Objectives</a:t>
            </a:r>
            <a:endParaRPr b="0" i="0" sz="2000" u="none" cap="none" strike="noStrike">
              <a:solidFill>
                <a:srgbClr val="213163"/>
              </a:solidFill>
              <a:latin typeface="Arial"/>
              <a:ea typeface="Arial"/>
              <a:cs typeface="Arial"/>
              <a:sym typeface="Arial"/>
            </a:endParaRPr>
          </a:p>
        </p:txBody>
      </p:sp>
      <p:sp>
        <p:nvSpPr>
          <p:cNvPr id="30" name="Google Shape;30;g5fab984687_2_0"/>
          <p:cNvSpPr txBox="1"/>
          <p:nvPr/>
        </p:nvSpPr>
        <p:spPr>
          <a:xfrm>
            <a:off x="199809" y="6135329"/>
            <a:ext cx="79587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200" u="none" cap="none" strike="noStrike">
                <a:solidFill>
                  <a:srgbClr val="000000"/>
                </a:solidFill>
                <a:latin typeface="Arial"/>
                <a:ea typeface="Arial"/>
                <a:cs typeface="Arial"/>
                <a:sym typeface="Arial"/>
              </a:rPr>
              <a:t>Source : </a:t>
            </a:r>
            <a:endParaRPr/>
          </a:p>
        </p:txBody>
      </p:sp>
      <p:sp>
        <p:nvSpPr>
          <p:cNvPr id="31" name="Google Shape;31;g5fab984687_2_0"/>
          <p:cNvSpPr txBox="1"/>
          <p:nvPr/>
        </p:nvSpPr>
        <p:spPr>
          <a:xfrm>
            <a:off x="880529" y="6135329"/>
            <a:ext cx="184235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sng" cap="none" strike="noStrike">
                <a:solidFill>
                  <a:srgbClr val="0000FF"/>
                </a:solidFill>
                <a:latin typeface="Arial"/>
                <a:ea typeface="Arial"/>
                <a:cs typeface="Arial"/>
                <a:sym typeface="Arial"/>
                <a:hlinkClick r:id="rId3">
                  <a:extLst>
                    <a:ext uri="{A12FA001-AC4F-418D-AE19-62706E023703}">
                      <ahyp:hlinkClr val="tx"/>
                    </a:ext>
                  </a:extLst>
                </a:hlinkClick>
              </a:rPr>
              <a:t>www.freepik.com/</a:t>
            </a:r>
            <a:endParaRPr b="0" i="0" sz="1200" u="none" cap="none" strike="noStrike">
              <a:solidFill>
                <a:srgbClr val="0000FF"/>
              </a:solidFill>
              <a:latin typeface="Arial"/>
              <a:ea typeface="Arial"/>
              <a:cs typeface="Arial"/>
              <a:sym typeface="Arial"/>
            </a:endParaRPr>
          </a:p>
        </p:txBody>
      </p:sp>
      <p:cxnSp>
        <p:nvCxnSpPr>
          <p:cNvPr id="32" name="Google Shape;32;g5fab984687_2_0"/>
          <p:cNvCxnSpPr/>
          <p:nvPr/>
        </p:nvCxnSpPr>
        <p:spPr>
          <a:xfrm>
            <a:off x="0" y="6055360"/>
            <a:ext cx="12192000" cy="0"/>
          </a:xfrm>
          <a:prstGeom prst="straightConnector1">
            <a:avLst/>
          </a:prstGeom>
          <a:noFill/>
          <a:ln cap="flat" cmpd="sng" w="12700">
            <a:solidFill>
              <a:srgbClr val="D8D8D8"/>
            </a:solidFill>
            <a:prstDash val="solid"/>
            <a:round/>
            <a:headEnd len="sm" w="sm" type="none"/>
            <a:tailEnd len="sm" w="sm" type="none"/>
          </a:ln>
        </p:spPr>
      </p:cxnSp>
      <p:pic>
        <p:nvPicPr>
          <p:cNvPr descr="A ladder leading to a large yellow circle&#10;&#10;Description automatically generated" id="33" name="Google Shape;33;g5fab984687_2_0"/>
          <p:cNvPicPr preferRelativeResize="0"/>
          <p:nvPr/>
        </p:nvPicPr>
        <p:blipFill rotWithShape="1">
          <a:blip r:embed="rId4">
            <a:alphaModFix amt="85000"/>
          </a:blip>
          <a:srcRect b="0" l="13763" r="13650" t="6135"/>
          <a:stretch/>
        </p:blipFill>
        <p:spPr>
          <a:xfrm>
            <a:off x="7345680" y="1442720"/>
            <a:ext cx="4500880" cy="4632960"/>
          </a:xfrm>
          <a:prstGeom prst="rect">
            <a:avLst/>
          </a:prstGeom>
          <a:noFill/>
          <a:ln>
            <a:noFill/>
          </a:ln>
        </p:spPr>
      </p:pic>
      <p:sp>
        <p:nvSpPr>
          <p:cNvPr id="34" name="Google Shape;34;g5fab984687_2_0"/>
          <p:cNvSpPr txBox="1"/>
          <p:nvPr/>
        </p:nvSpPr>
        <p:spPr>
          <a:xfrm>
            <a:off x="8839200" y="3168609"/>
            <a:ext cx="1503681" cy="6309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500" u="none" cap="none" strike="noStrike">
                <a:solidFill>
                  <a:schemeClr val="dk1"/>
                </a:solidFill>
                <a:latin typeface="Arial"/>
                <a:ea typeface="Arial"/>
                <a:cs typeface="Arial"/>
                <a:sym typeface="Arial"/>
              </a:rPr>
              <a:t>GOAL</a:t>
            </a:r>
            <a:endParaRPr/>
          </a:p>
        </p:txBody>
      </p:sp>
      <p:sp>
        <p:nvSpPr>
          <p:cNvPr id="35" name="Google Shape;35;g5fab984687_2_0"/>
          <p:cNvSpPr txBox="1"/>
          <p:nvPr/>
        </p:nvSpPr>
        <p:spPr>
          <a:xfrm>
            <a:off x="191900" y="1573175"/>
            <a:ext cx="7153800" cy="32784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Clr>
                <a:schemeClr val="dk1"/>
              </a:buClr>
              <a:buSzPts val="1100"/>
              <a:buFont typeface="Arial"/>
              <a:buNone/>
            </a:pPr>
            <a:r>
              <a:rPr lang="en" sz="2300">
                <a:solidFill>
                  <a:srgbClr val="213163"/>
                </a:solidFill>
              </a:rPr>
              <a:t>The goal of this project is to examine sentiment distribution, engagement metrics, and social media trends on sites like Facebook, Instagram, and Twitter. The dashboard gives insights into social media performance by displaying important metrics including likes, retweets, hashtag trends, and engagement by nation.</a:t>
            </a:r>
            <a:endParaRPr sz="2300">
              <a:solidFill>
                <a:srgbClr val="213163"/>
              </a:solidFill>
            </a:endParaRPr>
          </a:p>
          <a:p>
            <a:pPr indent="0" lvl="0" marL="0" rtl="0" algn="just">
              <a:spcBef>
                <a:spcPts val="0"/>
              </a:spcBef>
              <a:spcAft>
                <a:spcPts val="0"/>
              </a:spcAft>
              <a:buClr>
                <a:schemeClr val="dk1"/>
              </a:buClr>
              <a:buSzPts val="1100"/>
              <a:buFont typeface="Arial"/>
              <a:buNone/>
            </a:pPr>
            <a:r>
              <a:t/>
            </a:r>
            <a:endParaRPr sz="2300">
              <a:solidFill>
                <a:srgbClr val="213163"/>
              </a:solidFill>
            </a:endParaRPr>
          </a:p>
          <a:p>
            <a:pPr indent="0" lvl="0" marL="0" marR="0" rtl="0" algn="just">
              <a:lnSpc>
                <a:spcPct val="100000"/>
              </a:lnSpc>
              <a:spcBef>
                <a:spcPts val="0"/>
              </a:spcBef>
              <a:spcAft>
                <a:spcPts val="0"/>
              </a:spcAft>
              <a:buNone/>
            </a:pPr>
            <a:r>
              <a:t/>
            </a:r>
            <a:endParaRPr sz="2300">
              <a:solidFill>
                <a:srgbClr val="21316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2"/>
          <p:cNvSpPr txBox="1"/>
          <p:nvPr/>
        </p:nvSpPr>
        <p:spPr>
          <a:xfrm>
            <a:off x="135834" y="1067664"/>
            <a:ext cx="610262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13163"/>
                </a:solidFill>
                <a:latin typeface="Arial"/>
                <a:ea typeface="Arial"/>
                <a:cs typeface="Arial"/>
                <a:sym typeface="Arial"/>
              </a:rPr>
              <a:t>T</a:t>
            </a:r>
            <a:r>
              <a:rPr b="1" i="0" lang="en" sz="2000" u="none" cap="none" strike="noStrike">
                <a:solidFill>
                  <a:srgbClr val="213163"/>
                </a:solidFill>
                <a:latin typeface="Arial"/>
                <a:ea typeface="Arial"/>
                <a:cs typeface="Arial"/>
                <a:sym typeface="Arial"/>
              </a:rPr>
              <a:t>ools and Technology used </a:t>
            </a:r>
            <a:endParaRPr/>
          </a:p>
        </p:txBody>
      </p:sp>
      <p:sp>
        <p:nvSpPr>
          <p:cNvPr id="41" name="Google Shape;41;p2"/>
          <p:cNvSpPr txBox="1"/>
          <p:nvPr/>
        </p:nvSpPr>
        <p:spPr>
          <a:xfrm>
            <a:off x="135825" y="1876800"/>
            <a:ext cx="7648500" cy="2139600"/>
          </a:xfrm>
          <a:prstGeom prst="rect">
            <a:avLst/>
          </a:prstGeom>
          <a:noFill/>
          <a:ln>
            <a:noFill/>
          </a:ln>
        </p:spPr>
        <p:txBody>
          <a:bodyPr anchorCtr="0" anchor="t" bIns="45700" lIns="91425" spcFirstLastPara="1" rIns="91425" wrap="square" tIns="45700">
            <a:spAutoFit/>
          </a:bodyPr>
          <a:lstStyle/>
          <a:p>
            <a:pPr indent="-349250" lvl="0" marL="457200" rtl="0" algn="just">
              <a:spcBef>
                <a:spcPts val="0"/>
              </a:spcBef>
              <a:spcAft>
                <a:spcPts val="0"/>
              </a:spcAft>
              <a:buClr>
                <a:srgbClr val="213163"/>
              </a:buClr>
              <a:buSzPts val="1900"/>
              <a:buChar char="●"/>
            </a:pPr>
            <a:r>
              <a:rPr b="1" lang="en" sz="1900">
                <a:solidFill>
                  <a:srgbClr val="213163"/>
                </a:solidFill>
              </a:rPr>
              <a:t>Power BI :</a:t>
            </a:r>
            <a:r>
              <a:rPr lang="en" sz="1900">
                <a:solidFill>
                  <a:srgbClr val="213163"/>
                </a:solidFill>
              </a:rPr>
              <a:t> For creating insights, interactive dashboards, and visualizing data. </a:t>
            </a:r>
            <a:endParaRPr sz="1900">
              <a:solidFill>
                <a:srgbClr val="213163"/>
              </a:solidFill>
            </a:endParaRPr>
          </a:p>
          <a:p>
            <a:pPr indent="-349250" lvl="0" marL="457200" rtl="0" algn="just">
              <a:spcBef>
                <a:spcPts val="0"/>
              </a:spcBef>
              <a:spcAft>
                <a:spcPts val="0"/>
              </a:spcAft>
              <a:buClr>
                <a:srgbClr val="213163"/>
              </a:buClr>
              <a:buSzPts val="1900"/>
              <a:buChar char="●"/>
            </a:pPr>
            <a:r>
              <a:rPr b="1" lang="en" sz="1900">
                <a:solidFill>
                  <a:srgbClr val="213163"/>
                </a:solidFill>
              </a:rPr>
              <a:t>Kaggle :</a:t>
            </a:r>
            <a:r>
              <a:rPr lang="en" sz="1900">
                <a:solidFill>
                  <a:srgbClr val="213163"/>
                </a:solidFill>
              </a:rPr>
              <a:t> Social media interactions, including as likes, retweets, sentiment scores, and hashtags, make up the Kaggle dataset. It offers a wealth of information about user activity on many platforms.</a:t>
            </a:r>
            <a:endParaRPr sz="1900">
              <a:solidFill>
                <a:srgbClr val="213163"/>
              </a:solidFill>
            </a:endParaRPr>
          </a:p>
          <a:p>
            <a:pPr indent="0" lvl="0" marL="0" marR="0" rtl="0" algn="just">
              <a:lnSpc>
                <a:spcPct val="100000"/>
              </a:lnSpc>
              <a:spcBef>
                <a:spcPts val="0"/>
              </a:spcBef>
              <a:spcAft>
                <a:spcPts val="0"/>
              </a:spcAft>
              <a:buNone/>
            </a:pPr>
            <a:r>
              <a:t/>
            </a:r>
            <a:endParaRPr sz="1900">
              <a:solidFill>
                <a:srgbClr val="21316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3"/>
          <p:cNvSpPr txBox="1"/>
          <p:nvPr/>
        </p:nvSpPr>
        <p:spPr>
          <a:xfrm>
            <a:off x="268356" y="1014656"/>
            <a:ext cx="610262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213163"/>
                </a:solidFill>
                <a:latin typeface="Arial"/>
                <a:ea typeface="Arial"/>
                <a:cs typeface="Arial"/>
                <a:sym typeface="Arial"/>
              </a:rPr>
              <a:t>Methodology</a:t>
            </a:r>
            <a:r>
              <a:rPr b="1" i="0" lang="en" sz="1800" u="none" cap="none" strike="noStrike">
                <a:solidFill>
                  <a:srgbClr val="213163"/>
                </a:solidFill>
                <a:latin typeface="Arial"/>
                <a:ea typeface="Arial"/>
                <a:cs typeface="Arial"/>
                <a:sym typeface="Arial"/>
              </a:rPr>
              <a:t> </a:t>
            </a:r>
            <a:endParaRPr b="0" i="0" sz="1800" u="none" cap="none" strike="noStrike">
              <a:solidFill>
                <a:srgbClr val="213163"/>
              </a:solidFill>
              <a:latin typeface="Arial"/>
              <a:ea typeface="Arial"/>
              <a:cs typeface="Arial"/>
              <a:sym typeface="Arial"/>
            </a:endParaRPr>
          </a:p>
        </p:txBody>
      </p:sp>
      <p:sp>
        <p:nvSpPr>
          <p:cNvPr id="47" name="Google Shape;47;p3"/>
          <p:cNvSpPr txBox="1"/>
          <p:nvPr/>
        </p:nvSpPr>
        <p:spPr>
          <a:xfrm>
            <a:off x="304800" y="1414775"/>
            <a:ext cx="11196600" cy="4571400"/>
          </a:xfrm>
          <a:prstGeom prst="rect">
            <a:avLst/>
          </a:prstGeom>
          <a:noFill/>
          <a:ln>
            <a:noFill/>
          </a:ln>
        </p:spPr>
        <p:txBody>
          <a:bodyPr anchorCtr="0" anchor="t" bIns="91425" lIns="91425" spcFirstLastPara="1" rIns="91425" wrap="square" tIns="91425">
            <a:spAutoFit/>
          </a:bodyPr>
          <a:lstStyle/>
          <a:p>
            <a:pPr indent="-349250" lvl="0" marL="457200" rtl="0" algn="just">
              <a:spcBef>
                <a:spcPts val="0"/>
              </a:spcBef>
              <a:spcAft>
                <a:spcPts val="0"/>
              </a:spcAft>
              <a:buClr>
                <a:srgbClr val="2C477C"/>
              </a:buClr>
              <a:buSzPts val="1900"/>
              <a:buChar char="●"/>
            </a:pPr>
            <a:r>
              <a:rPr b="1" lang="en" sz="1900">
                <a:solidFill>
                  <a:srgbClr val="2C477C"/>
                </a:solidFill>
              </a:rPr>
              <a:t>Bar Charts:</a:t>
            </a:r>
            <a:endParaRPr b="1" sz="1900">
              <a:solidFill>
                <a:srgbClr val="2C477C"/>
              </a:solidFill>
            </a:endParaRPr>
          </a:p>
          <a:p>
            <a:pPr indent="0" lvl="0" marL="457200" rtl="0" algn="just">
              <a:spcBef>
                <a:spcPts val="0"/>
              </a:spcBef>
              <a:spcAft>
                <a:spcPts val="0"/>
              </a:spcAft>
              <a:buNone/>
            </a:pPr>
            <a:r>
              <a:rPr lang="en" sz="1900">
                <a:solidFill>
                  <a:srgbClr val="2C477C"/>
                </a:solidFill>
              </a:rPr>
              <a:t>Used to compare average retweets across different sentiments.</a:t>
            </a:r>
            <a:endParaRPr sz="1900">
              <a:solidFill>
                <a:srgbClr val="2C477C"/>
              </a:solidFill>
            </a:endParaRPr>
          </a:p>
          <a:p>
            <a:pPr indent="0" lvl="0" marL="457200" rtl="0" algn="just">
              <a:spcBef>
                <a:spcPts val="0"/>
              </a:spcBef>
              <a:spcAft>
                <a:spcPts val="0"/>
              </a:spcAft>
              <a:buNone/>
            </a:pPr>
            <a:r>
              <a:rPr lang="en" sz="1900">
                <a:solidFill>
                  <a:srgbClr val="2C477C"/>
                </a:solidFill>
              </a:rPr>
              <a:t>Also used for sum of retweets by hashtag, showing the most engaging hashtags.</a:t>
            </a:r>
            <a:endParaRPr sz="1900">
              <a:solidFill>
                <a:srgbClr val="2C477C"/>
              </a:solidFill>
            </a:endParaRPr>
          </a:p>
          <a:p>
            <a:pPr indent="-349250" lvl="0" marL="457200" rtl="0" algn="just">
              <a:spcBef>
                <a:spcPts val="0"/>
              </a:spcBef>
              <a:spcAft>
                <a:spcPts val="0"/>
              </a:spcAft>
              <a:buClr>
                <a:srgbClr val="2C477C"/>
              </a:buClr>
              <a:buSzPts val="1900"/>
              <a:buChar char="●"/>
            </a:pPr>
            <a:r>
              <a:rPr b="1" lang="en" sz="1900">
                <a:solidFill>
                  <a:srgbClr val="2C477C"/>
                </a:solidFill>
              </a:rPr>
              <a:t>Pie Chart:</a:t>
            </a:r>
            <a:endParaRPr b="1" sz="1900">
              <a:solidFill>
                <a:srgbClr val="2C477C"/>
              </a:solidFill>
            </a:endParaRPr>
          </a:p>
          <a:p>
            <a:pPr indent="0" lvl="0" marL="457200" rtl="0" algn="just">
              <a:spcBef>
                <a:spcPts val="0"/>
              </a:spcBef>
              <a:spcAft>
                <a:spcPts val="0"/>
              </a:spcAft>
              <a:buNone/>
            </a:pPr>
            <a:r>
              <a:rPr lang="en" sz="1900">
                <a:solidFill>
                  <a:srgbClr val="2C477C"/>
                </a:solidFill>
              </a:rPr>
              <a:t>Shows the proportion of likes received on different platforms (Instagram, Facebook, Twitter).</a:t>
            </a:r>
            <a:endParaRPr sz="1900">
              <a:solidFill>
                <a:srgbClr val="2C477C"/>
              </a:solidFill>
            </a:endParaRPr>
          </a:p>
          <a:p>
            <a:pPr indent="-349250" lvl="0" marL="457200" rtl="0" algn="just">
              <a:spcBef>
                <a:spcPts val="0"/>
              </a:spcBef>
              <a:spcAft>
                <a:spcPts val="0"/>
              </a:spcAft>
              <a:buClr>
                <a:srgbClr val="2C477C"/>
              </a:buClr>
              <a:buSzPts val="1900"/>
              <a:buChar char="●"/>
            </a:pPr>
            <a:r>
              <a:rPr b="1" lang="en" sz="1900">
                <a:solidFill>
                  <a:srgbClr val="2C477C"/>
                </a:solidFill>
              </a:rPr>
              <a:t>Donut Chart (Circular Representation of Pie Chart):</a:t>
            </a:r>
            <a:endParaRPr b="1" sz="1900">
              <a:solidFill>
                <a:srgbClr val="2C477C"/>
              </a:solidFill>
            </a:endParaRPr>
          </a:p>
          <a:p>
            <a:pPr indent="0" lvl="0" marL="457200" rtl="0" algn="just">
              <a:spcBef>
                <a:spcPts val="0"/>
              </a:spcBef>
              <a:spcAft>
                <a:spcPts val="0"/>
              </a:spcAft>
              <a:buNone/>
            </a:pPr>
            <a:r>
              <a:rPr lang="en" sz="1900">
                <a:solidFill>
                  <a:srgbClr val="2C477C"/>
                </a:solidFill>
              </a:rPr>
              <a:t>Used to represent sum of likes by hashtags and their relative popularity.</a:t>
            </a:r>
            <a:endParaRPr sz="1900">
              <a:solidFill>
                <a:srgbClr val="2C477C"/>
              </a:solidFill>
            </a:endParaRPr>
          </a:p>
          <a:p>
            <a:pPr indent="-349250" lvl="0" marL="457200" rtl="0" algn="just">
              <a:spcBef>
                <a:spcPts val="0"/>
              </a:spcBef>
              <a:spcAft>
                <a:spcPts val="0"/>
              </a:spcAft>
              <a:buClr>
                <a:srgbClr val="2C477C"/>
              </a:buClr>
              <a:buSzPts val="1900"/>
              <a:buChar char="●"/>
            </a:pPr>
            <a:r>
              <a:rPr b="1" lang="en" sz="1900">
                <a:solidFill>
                  <a:srgbClr val="2C477C"/>
                </a:solidFill>
              </a:rPr>
              <a:t>Line Chart:</a:t>
            </a:r>
            <a:endParaRPr b="1" sz="1900">
              <a:solidFill>
                <a:srgbClr val="2C477C"/>
              </a:solidFill>
            </a:endParaRPr>
          </a:p>
          <a:p>
            <a:pPr indent="0" lvl="0" marL="457200" rtl="0" algn="just">
              <a:spcBef>
                <a:spcPts val="0"/>
              </a:spcBef>
              <a:spcAft>
                <a:spcPts val="0"/>
              </a:spcAft>
              <a:buNone/>
            </a:pPr>
            <a:r>
              <a:rPr lang="en" sz="1900">
                <a:solidFill>
                  <a:srgbClr val="2C477C"/>
                </a:solidFill>
              </a:rPr>
              <a:t>Displays average retweets by country, helping to identify engagement levels by region.</a:t>
            </a:r>
            <a:endParaRPr sz="1900">
              <a:solidFill>
                <a:srgbClr val="2C477C"/>
              </a:solidFill>
            </a:endParaRPr>
          </a:p>
          <a:p>
            <a:pPr indent="-349250" lvl="0" marL="457200" rtl="0" algn="just">
              <a:spcBef>
                <a:spcPts val="0"/>
              </a:spcBef>
              <a:spcAft>
                <a:spcPts val="0"/>
              </a:spcAft>
              <a:buClr>
                <a:srgbClr val="2C477C"/>
              </a:buClr>
              <a:buSzPts val="1900"/>
              <a:buChar char="●"/>
            </a:pPr>
            <a:r>
              <a:rPr b="1" lang="en" sz="1900">
                <a:solidFill>
                  <a:srgbClr val="2C477C"/>
                </a:solidFill>
              </a:rPr>
              <a:t>Treemap Chart:</a:t>
            </a:r>
            <a:endParaRPr b="1" sz="1900">
              <a:solidFill>
                <a:srgbClr val="2C477C"/>
              </a:solidFill>
            </a:endParaRPr>
          </a:p>
          <a:p>
            <a:pPr indent="0" lvl="0" marL="457200" rtl="0" algn="just">
              <a:spcBef>
                <a:spcPts val="0"/>
              </a:spcBef>
              <a:spcAft>
                <a:spcPts val="0"/>
              </a:spcAft>
              <a:buNone/>
            </a:pPr>
            <a:r>
              <a:rPr lang="en" sz="1900">
                <a:solidFill>
                  <a:srgbClr val="2C477C"/>
                </a:solidFill>
              </a:rPr>
              <a:t>Provides a hierarchical view of likes received by country, making it easier to compare engagement.</a:t>
            </a:r>
            <a:endParaRPr sz="1900">
              <a:solidFill>
                <a:srgbClr val="2C477C"/>
              </a:solidFill>
            </a:endParaRPr>
          </a:p>
          <a:p>
            <a:pPr indent="-349250" lvl="0" marL="457200" rtl="0" algn="just">
              <a:spcBef>
                <a:spcPts val="0"/>
              </a:spcBef>
              <a:spcAft>
                <a:spcPts val="0"/>
              </a:spcAft>
              <a:buClr>
                <a:srgbClr val="2C477C"/>
              </a:buClr>
              <a:buSzPts val="1900"/>
              <a:buChar char="●"/>
            </a:pPr>
            <a:r>
              <a:rPr b="1" lang="en" sz="1900">
                <a:solidFill>
                  <a:srgbClr val="2C477C"/>
                </a:solidFill>
              </a:rPr>
              <a:t>Card Visuals:</a:t>
            </a:r>
            <a:endParaRPr b="1" sz="1900">
              <a:solidFill>
                <a:srgbClr val="2C477C"/>
              </a:solidFill>
            </a:endParaRPr>
          </a:p>
          <a:p>
            <a:pPr indent="0" lvl="0" marL="457200" rtl="0" algn="just">
              <a:spcBef>
                <a:spcPts val="0"/>
              </a:spcBef>
              <a:spcAft>
                <a:spcPts val="0"/>
              </a:spcAft>
              <a:buNone/>
            </a:pPr>
            <a:r>
              <a:rPr lang="en" sz="1900">
                <a:solidFill>
                  <a:srgbClr val="2C477C"/>
                </a:solidFill>
              </a:rPr>
              <a:t>Displays Total Count of Countries (732) to summarize dataset coverage.</a:t>
            </a:r>
            <a:endParaRPr sz="1900">
              <a:solidFill>
                <a:srgbClr val="2C477C"/>
              </a:solidFill>
            </a:endParaRPr>
          </a:p>
          <a:p>
            <a:pPr indent="-349250" lvl="0" marL="457200" rtl="0" algn="just">
              <a:spcBef>
                <a:spcPts val="0"/>
              </a:spcBef>
              <a:spcAft>
                <a:spcPts val="0"/>
              </a:spcAft>
              <a:buClr>
                <a:srgbClr val="2C477C"/>
              </a:buClr>
              <a:buSzPts val="1900"/>
              <a:buChar char="●"/>
            </a:pPr>
            <a:r>
              <a:rPr b="1" lang="en" sz="1900">
                <a:solidFill>
                  <a:srgbClr val="2C477C"/>
                </a:solidFill>
              </a:rPr>
              <a:t>Slicer (Filter Visuals):</a:t>
            </a:r>
            <a:endParaRPr b="1" sz="1900">
              <a:solidFill>
                <a:srgbClr val="2C477C"/>
              </a:solidFill>
            </a:endParaRPr>
          </a:p>
          <a:p>
            <a:pPr indent="0" lvl="0" marL="457200" rtl="0" algn="just">
              <a:spcBef>
                <a:spcPts val="0"/>
              </a:spcBef>
              <a:spcAft>
                <a:spcPts val="0"/>
              </a:spcAft>
              <a:buNone/>
            </a:pPr>
            <a:r>
              <a:rPr lang="en" sz="1900">
                <a:solidFill>
                  <a:srgbClr val="2C477C"/>
                </a:solidFill>
              </a:rPr>
              <a:t>Allows selection of different years (2010–2018) to analyze engagement trends over time.</a:t>
            </a:r>
            <a:endParaRPr sz="1900">
              <a:solidFill>
                <a:srgbClr val="2C477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g65409ad471_0_2"/>
          <p:cNvSpPr txBox="1"/>
          <p:nvPr/>
        </p:nvSpPr>
        <p:spPr>
          <a:xfrm>
            <a:off x="255104" y="1054412"/>
            <a:ext cx="610262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213163"/>
                </a:solidFill>
                <a:latin typeface="Arial"/>
                <a:ea typeface="Arial"/>
                <a:cs typeface="Arial"/>
                <a:sym typeface="Arial"/>
              </a:rPr>
              <a:t>Problem Statement:  </a:t>
            </a:r>
            <a:endParaRPr b="1" i="0" sz="2000" u="none" cap="none" strike="noStrike">
              <a:solidFill>
                <a:srgbClr val="213163"/>
              </a:solidFill>
              <a:latin typeface="Arial"/>
              <a:ea typeface="Arial"/>
              <a:cs typeface="Arial"/>
              <a:sym typeface="Arial"/>
            </a:endParaRPr>
          </a:p>
        </p:txBody>
      </p:sp>
      <p:sp>
        <p:nvSpPr>
          <p:cNvPr id="53" name="Google Shape;53;g65409ad471_0_2"/>
          <p:cNvSpPr txBox="1"/>
          <p:nvPr/>
        </p:nvSpPr>
        <p:spPr>
          <a:xfrm>
            <a:off x="446475" y="1928800"/>
            <a:ext cx="10680000" cy="3401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rgbClr val="2B467B"/>
              </a:buClr>
              <a:buSzPts val="1900"/>
              <a:buAutoNum type="arabicPeriod"/>
            </a:pPr>
            <a:r>
              <a:rPr lang="en" sz="1900">
                <a:solidFill>
                  <a:srgbClr val="2B467B"/>
                </a:solidFill>
              </a:rPr>
              <a:t>Which platform (Instagram, Twitter, Facebook) receives the most engagement?</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How do sentiments (positive, neutral, negative) impact user engagement?</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Which hashtags generate the highest likes and retweets?</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How does engagement vary by country?</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What are the month-wise trends in likes and retweets?</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Which posts and hashtags contribute the most to social media interactions?</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Determine the best-performing posts, feelings, and hashtags.</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Recognize patterns in engagement across nations and platforms.</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Examine monthly likes and retweet trends to identify trends.</a:t>
            </a:r>
            <a:endParaRPr sz="1900">
              <a:solidFill>
                <a:srgbClr val="2B467B"/>
              </a:solidFill>
            </a:endParaRPr>
          </a:p>
          <a:p>
            <a:pPr indent="-349250" lvl="0" marL="457200" rtl="0" algn="l">
              <a:spcBef>
                <a:spcPts val="0"/>
              </a:spcBef>
              <a:spcAft>
                <a:spcPts val="0"/>
              </a:spcAft>
              <a:buClr>
                <a:srgbClr val="2B467B"/>
              </a:buClr>
              <a:buSzPts val="1900"/>
              <a:buAutoNum type="arabicPeriod"/>
            </a:pPr>
            <a:r>
              <a:rPr lang="en" sz="1900">
                <a:solidFill>
                  <a:srgbClr val="2B467B"/>
                </a:solidFill>
              </a:rPr>
              <a:t>Acquire practical knowledge on how users engage with various kinds of material.</a:t>
            </a:r>
            <a:endParaRPr sz="1900">
              <a:solidFill>
                <a:srgbClr val="2B467B"/>
              </a:solidFill>
            </a:endParaRPr>
          </a:p>
          <a:p>
            <a:pPr indent="0" lvl="0" marL="457200" rtl="0" algn="l">
              <a:spcBef>
                <a:spcPts val="0"/>
              </a:spcBef>
              <a:spcAft>
                <a:spcPts val="0"/>
              </a:spcAft>
              <a:buNone/>
            </a:pPr>
            <a:r>
              <a:t/>
            </a:r>
            <a:endParaRPr sz="1900">
              <a:solidFill>
                <a:srgbClr val="2B467B"/>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g32ffd54f8e0_0_18"/>
          <p:cNvSpPr txBox="1"/>
          <p:nvPr/>
        </p:nvSpPr>
        <p:spPr>
          <a:xfrm>
            <a:off x="255104" y="1054412"/>
            <a:ext cx="6102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213163"/>
                </a:solidFill>
                <a:latin typeface="Arial"/>
                <a:ea typeface="Arial"/>
                <a:cs typeface="Arial"/>
                <a:sym typeface="Arial"/>
              </a:rPr>
              <a:t>Solution:  </a:t>
            </a:r>
            <a:endParaRPr b="1" i="0" sz="2000" u="none" cap="none" strike="noStrike">
              <a:solidFill>
                <a:srgbClr val="213163"/>
              </a:solidFill>
              <a:latin typeface="Arial"/>
              <a:ea typeface="Arial"/>
              <a:cs typeface="Arial"/>
              <a:sym typeface="Arial"/>
            </a:endParaRPr>
          </a:p>
        </p:txBody>
      </p:sp>
      <p:graphicFrame>
        <p:nvGraphicFramePr>
          <p:cNvPr id="59" name="Google Shape;59;g32ffd54f8e0_0_18"/>
          <p:cNvGraphicFramePr/>
          <p:nvPr/>
        </p:nvGraphicFramePr>
        <p:xfrm>
          <a:off x="304800" y="1454600"/>
          <a:ext cx="3000000" cy="3000000"/>
        </p:xfrm>
        <a:graphic>
          <a:graphicData uri="http://schemas.openxmlformats.org/drawingml/2006/table">
            <a:tbl>
              <a:tblPr>
                <a:noFill/>
                <a:tableStyleId>{F1650E04-EA5A-49DF-9232-FF3F831E30ED}</a:tableStyleId>
              </a:tblPr>
              <a:tblGrid>
                <a:gridCol w="7303300"/>
                <a:gridCol w="3667150"/>
              </a:tblGrid>
              <a:tr h="493925">
                <a:tc>
                  <a:txBody>
                    <a:bodyPr/>
                    <a:lstStyle/>
                    <a:p>
                      <a:pPr indent="0" lvl="0" marL="0" rtl="0" algn="ctr">
                        <a:lnSpc>
                          <a:spcPct val="115000"/>
                        </a:lnSpc>
                        <a:spcBef>
                          <a:spcPts val="0"/>
                        </a:spcBef>
                        <a:spcAft>
                          <a:spcPts val="0"/>
                        </a:spcAft>
                        <a:buNone/>
                      </a:pPr>
                      <a:r>
                        <a:rPr b="1" lang="en" sz="1800">
                          <a:solidFill>
                            <a:srgbClr val="2C477C"/>
                          </a:solidFill>
                        </a:rPr>
                        <a:t>Problem Statements</a:t>
                      </a:r>
                      <a:endParaRPr b="1"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solidFill>
                            <a:srgbClr val="2C477C"/>
                          </a:solidFill>
                        </a:rPr>
                        <a:t>Chart Type Used</a:t>
                      </a:r>
                      <a:endParaRPr b="1"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Sum of Likes by Platform</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Pie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Sum of Likes by Hashtags</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Donut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Average of Likes by Country</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Treemap</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Average of Likes by Sentiment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Treemap</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Sum of Retweets by Hashtags</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Bar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Average of Retweets by Sentiment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Bar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Average of Retweets by Platform</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Stacked </a:t>
                      </a:r>
                      <a:r>
                        <a:rPr lang="en" sz="1800">
                          <a:solidFill>
                            <a:srgbClr val="2C477C"/>
                          </a:solidFill>
                        </a:rPr>
                        <a:t>Column</a:t>
                      </a:r>
                      <a:r>
                        <a:rPr lang="en" sz="1800">
                          <a:solidFill>
                            <a:srgbClr val="2C477C"/>
                          </a:solidFill>
                        </a:rPr>
                        <a:t>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Sum of Retweets and Sum of Likes by Sentiment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Stacked Column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Average of Retweets by Country</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Line Chart</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8725">
                <a:tc>
                  <a:txBody>
                    <a:bodyPr/>
                    <a:lstStyle/>
                    <a:p>
                      <a:pPr indent="0" lvl="0" marL="0" rtl="0" algn="l">
                        <a:spcBef>
                          <a:spcPts val="0"/>
                        </a:spcBef>
                        <a:spcAft>
                          <a:spcPts val="0"/>
                        </a:spcAft>
                        <a:buNone/>
                      </a:pPr>
                      <a:r>
                        <a:rPr lang="en" sz="1800">
                          <a:solidFill>
                            <a:srgbClr val="2C477C"/>
                          </a:solidFill>
                        </a:rPr>
                        <a:t>Count of Country</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rgbClr val="2C477C"/>
                          </a:solidFill>
                        </a:rPr>
                        <a:t>Card Visual</a:t>
                      </a:r>
                      <a:endParaRPr sz="1800">
                        <a:solidFill>
                          <a:srgbClr val="2C477C"/>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txBox="1"/>
          <p:nvPr/>
        </p:nvSpPr>
        <p:spPr>
          <a:xfrm>
            <a:off x="255104" y="1054412"/>
            <a:ext cx="610262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213163"/>
                </a:solidFill>
                <a:latin typeface="Arial"/>
                <a:ea typeface="Arial"/>
                <a:cs typeface="Arial"/>
                <a:sym typeface="Arial"/>
              </a:rPr>
              <a:t>Screenshot of Output:  </a:t>
            </a:r>
            <a:endParaRPr b="1" i="0" sz="2000" u="none" cap="none" strike="noStrike">
              <a:solidFill>
                <a:srgbClr val="213163"/>
              </a:solidFill>
              <a:latin typeface="Arial"/>
              <a:ea typeface="Arial"/>
              <a:cs typeface="Arial"/>
              <a:sym typeface="Arial"/>
            </a:endParaRPr>
          </a:p>
        </p:txBody>
      </p:sp>
      <p:pic>
        <p:nvPicPr>
          <p:cNvPr id="65" name="Google Shape;65;p6"/>
          <p:cNvPicPr preferRelativeResize="0"/>
          <p:nvPr/>
        </p:nvPicPr>
        <p:blipFill rotWithShape="1">
          <a:blip r:embed="rId3">
            <a:alphaModFix/>
          </a:blip>
          <a:srcRect b="12936" l="9438" r="25065" t="20860"/>
          <a:stretch/>
        </p:blipFill>
        <p:spPr>
          <a:xfrm>
            <a:off x="410775" y="1454525"/>
            <a:ext cx="9508200" cy="540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4"/>
          <p:cNvSpPr txBox="1"/>
          <p:nvPr/>
        </p:nvSpPr>
        <p:spPr>
          <a:xfrm>
            <a:off x="149087" y="988151"/>
            <a:ext cx="610262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213163"/>
                </a:solidFill>
                <a:latin typeface="Arial"/>
                <a:ea typeface="Arial"/>
                <a:cs typeface="Arial"/>
                <a:sym typeface="Arial"/>
              </a:rPr>
              <a:t>Conclusion:</a:t>
            </a:r>
            <a:r>
              <a:rPr b="1" i="0" lang="en" sz="1800" u="none" cap="none" strike="noStrike">
                <a:solidFill>
                  <a:srgbClr val="213163"/>
                </a:solidFill>
                <a:latin typeface="Arial"/>
                <a:ea typeface="Arial"/>
                <a:cs typeface="Arial"/>
                <a:sym typeface="Arial"/>
              </a:rPr>
              <a:t>  </a:t>
            </a:r>
            <a:endParaRPr b="0" i="0" sz="1800" u="none" cap="none" strike="noStrike">
              <a:solidFill>
                <a:srgbClr val="213163"/>
              </a:solidFill>
              <a:latin typeface="Arial"/>
              <a:ea typeface="Arial"/>
              <a:cs typeface="Arial"/>
              <a:sym typeface="Arial"/>
            </a:endParaRPr>
          </a:p>
        </p:txBody>
      </p:sp>
      <p:sp>
        <p:nvSpPr>
          <p:cNvPr id="71" name="Google Shape;71;p4"/>
          <p:cNvSpPr txBox="1"/>
          <p:nvPr/>
        </p:nvSpPr>
        <p:spPr>
          <a:xfrm>
            <a:off x="304800" y="1607350"/>
            <a:ext cx="9446400" cy="3879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rgbClr val="2B467B"/>
                </a:solidFill>
              </a:rPr>
              <a:t>This Power BI Social Media Analytics Dashboard does a good job at visualizing sentiment analysis, hashtag trends, and engagement metrics. By examining important trends, companies and influencers can:</a:t>
            </a:r>
            <a:endParaRPr sz="2000">
              <a:solidFill>
                <a:srgbClr val="2B467B"/>
              </a:solidFill>
            </a:endParaRPr>
          </a:p>
          <a:p>
            <a:pPr indent="0" lvl="0" marL="0" rtl="0" algn="just">
              <a:spcBef>
                <a:spcPts val="0"/>
              </a:spcBef>
              <a:spcAft>
                <a:spcPts val="0"/>
              </a:spcAft>
              <a:buNone/>
            </a:pPr>
            <a:r>
              <a:t/>
            </a:r>
            <a:endParaRPr sz="2000">
              <a:solidFill>
                <a:srgbClr val="2B467B"/>
              </a:solidFill>
            </a:endParaRPr>
          </a:p>
          <a:p>
            <a:pPr indent="-355600" lvl="0" marL="457200" rtl="0" algn="just">
              <a:spcBef>
                <a:spcPts val="0"/>
              </a:spcBef>
              <a:spcAft>
                <a:spcPts val="0"/>
              </a:spcAft>
              <a:buClr>
                <a:srgbClr val="2B467B"/>
              </a:buClr>
              <a:buSzPts val="2000"/>
              <a:buChar char="●"/>
            </a:pPr>
            <a:r>
              <a:rPr lang="en" sz="2000">
                <a:solidFill>
                  <a:srgbClr val="2B467B"/>
                </a:solidFill>
              </a:rPr>
              <a:t>Optimize content strategy by using hashtags that perform well.</a:t>
            </a:r>
            <a:endParaRPr sz="2000">
              <a:solidFill>
                <a:srgbClr val="2B467B"/>
              </a:solidFill>
            </a:endParaRPr>
          </a:p>
          <a:p>
            <a:pPr indent="-355600" lvl="0" marL="457200" rtl="0" algn="just">
              <a:spcBef>
                <a:spcPts val="0"/>
              </a:spcBef>
              <a:spcAft>
                <a:spcPts val="0"/>
              </a:spcAft>
              <a:buClr>
                <a:srgbClr val="2B467B"/>
              </a:buClr>
              <a:buSzPts val="2000"/>
              <a:buChar char="●"/>
            </a:pPr>
            <a:r>
              <a:rPr lang="en" sz="2000">
                <a:solidFill>
                  <a:srgbClr val="2B467B"/>
                </a:solidFill>
              </a:rPr>
              <a:t>Target particular nations with more potential for engagement.</a:t>
            </a:r>
            <a:endParaRPr sz="2000">
              <a:solidFill>
                <a:srgbClr val="2B467B"/>
              </a:solidFill>
            </a:endParaRPr>
          </a:p>
          <a:p>
            <a:pPr indent="-355600" lvl="0" marL="457200" rtl="0" algn="just">
              <a:spcBef>
                <a:spcPts val="0"/>
              </a:spcBef>
              <a:spcAft>
                <a:spcPts val="0"/>
              </a:spcAft>
              <a:buClr>
                <a:srgbClr val="2B467B"/>
              </a:buClr>
              <a:buSzPts val="2000"/>
              <a:buChar char="●"/>
            </a:pPr>
            <a:r>
              <a:rPr lang="en" sz="2000">
                <a:solidFill>
                  <a:srgbClr val="2B467B"/>
                </a:solidFill>
              </a:rPr>
              <a:t>Analyze monthly engagement data to forecast social media trends.</a:t>
            </a:r>
            <a:endParaRPr sz="2000">
              <a:solidFill>
                <a:srgbClr val="2B467B"/>
              </a:solidFill>
            </a:endParaRPr>
          </a:p>
          <a:p>
            <a:pPr indent="-355600" lvl="0" marL="457200" rtl="0" algn="just">
              <a:spcBef>
                <a:spcPts val="0"/>
              </a:spcBef>
              <a:spcAft>
                <a:spcPts val="0"/>
              </a:spcAft>
              <a:buClr>
                <a:srgbClr val="2B467B"/>
              </a:buClr>
              <a:buSzPts val="2000"/>
              <a:buChar char="●"/>
            </a:pPr>
            <a:r>
              <a:rPr lang="en" sz="2000">
                <a:solidFill>
                  <a:srgbClr val="2B467B"/>
                </a:solidFill>
              </a:rPr>
              <a:t>Improve social media efforts by utilizing platform-specific user behavior analytics.</a:t>
            </a:r>
            <a:endParaRPr sz="2000">
              <a:solidFill>
                <a:srgbClr val="2B467B"/>
              </a:solidFill>
            </a:endParaRPr>
          </a:p>
          <a:p>
            <a:pPr indent="0" lvl="0" marL="0" rtl="0" algn="just">
              <a:spcBef>
                <a:spcPts val="0"/>
              </a:spcBef>
              <a:spcAft>
                <a:spcPts val="0"/>
              </a:spcAft>
              <a:buNone/>
            </a:pPr>
            <a:r>
              <a:t/>
            </a:r>
            <a:endParaRPr sz="2000">
              <a:solidFill>
                <a:srgbClr val="2B467B"/>
              </a:solidFill>
            </a:endParaRPr>
          </a:p>
          <a:p>
            <a:pPr indent="0" lvl="0" marL="0" rtl="0" algn="just">
              <a:spcBef>
                <a:spcPts val="0"/>
              </a:spcBef>
              <a:spcAft>
                <a:spcPts val="0"/>
              </a:spcAft>
              <a:buNone/>
            </a:pPr>
            <a:r>
              <a:rPr lang="en" sz="2000">
                <a:solidFill>
                  <a:srgbClr val="2B467B"/>
                </a:solidFill>
              </a:rPr>
              <a:t>This project showcases the ability of Power BI to extract valuable insights from social media data through interactive visualizations and real-time analytics. </a:t>
            </a:r>
            <a:endParaRPr sz="2000">
              <a:solidFill>
                <a:srgbClr val="2B467B"/>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2024-12-31T09:40:01Z</dcterms:created>
  <dc:creator>Mahesh Kurhe</dc:creator>
</cp:coreProperties>
</file>